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8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63" r:id="rId1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Relationship Id="rId14" Type="http://schemas.openxmlformats.org/officeDocument/2006/relationships/slide" Target="slides/slide8.xml"/></Relationships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image" Target="../media/image-8-2.jpeg"/><Relationship Id="rId3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D4852A"/>
          </a:solidFill>
          <a:ln w="12700">
            <a:solidFill>
              <a:srgbClr val="D4852A"/>
            </a:solidFill>
            <a:prstDash val="solid"/>
          </a:ln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754880" y="0"/>
            <a:ext cx="4389120" cy="51435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4754880" y="0"/>
            <a:ext cx="4389120" cy="5143500"/>
          </a:xfrm>
          <a:prstGeom prst="rect">
            <a:avLst/>
          </a:prstGeom>
          <a:solidFill>
            <a:srgbClr val="1A1A2E">
              <a:alpha val="60000"/>
            </a:srgbClr>
          </a:solidFill>
          <a:ln w="12700">
            <a:solidFill>
              <a:srgbClr val="1A1A2E">
                <a:alpha val="60000"/>
              </a:srgbClr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411480" y="100584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FROM PIXELS</a:t>
            </a:r>
            <a:endParaRPr lang="en-US" sz="3600" dirty="0"/>
          </a:p>
        </p:txBody>
      </p:sp>
      <p:sp>
        <p:nvSpPr>
          <p:cNvPr id="6" name="Text 3"/>
          <p:cNvSpPr/>
          <p:nvPr/>
        </p:nvSpPr>
        <p:spPr>
          <a:xfrm>
            <a:off x="411480" y="160020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D485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 PLANS</a:t>
            </a:r>
            <a:endParaRPr lang="en-US" sz="3600" dirty="0"/>
          </a:p>
        </p:txBody>
      </p:sp>
      <p:sp>
        <p:nvSpPr>
          <p:cNvPr id="7" name="Text 4"/>
          <p:cNvSpPr/>
          <p:nvPr/>
        </p:nvSpPr>
        <p:spPr>
          <a:xfrm>
            <a:off x="411480" y="233172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DDDB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journey into 3D architectural modelling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411480" y="2834640"/>
            <a:ext cx="2286000" cy="36576"/>
          </a:xfrm>
          <a:prstGeom prst="rect">
            <a:avLst/>
          </a:prstGeom>
          <a:solidFill>
            <a:srgbClr val="D4852A"/>
          </a:solidFill>
          <a:ln w="12700">
            <a:solidFill>
              <a:srgbClr val="D4852A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11480" y="29718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Gavin Koch-Schulte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411480" y="3310128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8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MBCI Studio Program  ·  2025–2026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D4852A"/>
          </a:solidFill>
          <a:ln w="12700">
            <a:solidFill>
              <a:srgbClr val="D485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20116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ABOUT GAVIN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11480" y="1051560"/>
            <a:ext cx="512064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I've always loved building things.
</a:t>
            </a:r>
            <a:pPr indent="0" marL="0">
              <a:buNone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Growing up making cities in Minecraft and Roblox, I was always drawn to how buildings look and fit together — the shapes, the detail, the way a structure can define a whole streetscape.
</a:t>
            </a:r>
            <a:pPr indent="0" marL="0">
              <a:buNone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dad works in commercial real estate, so I grew up around real buildings — seeing blueprints, watching construction, and understanding that the things I was building digitally were real things people actually design.
</a:t>
            </a:r>
            <a:pPr indent="0" marL="0">
              <a:buNone/>
            </a:pPr>
            <a:r>
              <a:rPr lang="en-US" sz="1400" i="1" dirty="0">
                <a:solidFill>
                  <a:srgbClr val="D485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Studio gave me the chance to take that passion seriously.</a:t>
            </a:r>
            <a:endParaRPr lang="en-US" sz="16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760720" y="1051560"/>
            <a:ext cx="3017520" cy="32918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760720" y="4407408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8A8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3D printed model of downtown Winnipeg — the world Gavin wants to build in.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D4852A"/>
          </a:solidFill>
          <a:ln w="12700">
            <a:solidFill>
              <a:srgbClr val="D485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320040"/>
            <a:ext cx="8321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FINDING THE RIGHT TOOL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11480" y="841248"/>
            <a:ext cx="8321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8A8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every tool fits every builder.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11480" y="1371600"/>
            <a:ext cx="2651760" cy="3291840"/>
          </a:xfrm>
          <a:prstGeom prst="rect">
            <a:avLst/>
          </a:prstGeom>
          <a:solidFill>
            <a:srgbClr val="2E2E3A"/>
          </a:solidFill>
          <a:ln w="12700">
            <a:solidFill>
              <a:srgbClr val="8A8A9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55448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8A8A9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Roblox &amp;</a:t>
            </a:r>
            <a:endParaRPr lang="en-US" sz="1800" dirty="0"/>
          </a:p>
          <a:p>
            <a:pPr indent="0" marL="0">
              <a:buNone/>
            </a:pPr>
            <a:r>
              <a:rPr lang="en-US" sz="1800" b="1" dirty="0">
                <a:solidFill>
                  <a:srgbClr val="8A8A9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Minecraft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594360" y="1938528"/>
            <a:ext cx="2286000" cy="0"/>
          </a:xfrm>
          <a:prstGeom prst="line">
            <a:avLst/>
          </a:prstGeom>
          <a:noFill/>
          <a:ln w="19050">
            <a:solidFill>
              <a:srgbClr val="8A8A9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2331720"/>
            <a:ext cx="23774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8A8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it all started — fun, fast, and great for cities. But not what real designers use.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291840" y="1371600"/>
            <a:ext cx="2651760" cy="3291840"/>
          </a:xfrm>
          <a:prstGeom prst="rect">
            <a:avLst/>
          </a:prstGeom>
          <a:solidFill>
            <a:srgbClr val="2E2E3A"/>
          </a:solidFill>
          <a:ln w="12700">
            <a:solidFill>
              <a:srgbClr val="8A8A9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29000" y="155448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8A8A9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Fusion 360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3474720" y="1938528"/>
            <a:ext cx="2286000" cy="0"/>
          </a:xfrm>
          <a:prstGeom prst="line">
            <a:avLst/>
          </a:prstGeom>
          <a:noFill/>
          <a:ln w="19050">
            <a:solidFill>
              <a:srgbClr val="8A8A9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429000" y="2331720"/>
            <a:ext cx="23774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8A8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Tried it based on a classmate's suggestion. Better software — but slow on my computer and only a trial.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172200" y="1371600"/>
            <a:ext cx="2651760" cy="3291840"/>
          </a:xfrm>
          <a:prstGeom prst="rect">
            <a:avLst/>
          </a:prstGeom>
          <a:solidFill>
            <a:srgbClr val="2E2E3A"/>
          </a:solidFill>
          <a:ln w="25400">
            <a:solidFill>
              <a:srgbClr val="D4852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172200" y="1371600"/>
            <a:ext cx="2651760" cy="73152"/>
          </a:xfrm>
          <a:prstGeom prst="rect">
            <a:avLst/>
          </a:prstGeom>
          <a:solidFill>
            <a:srgbClr val="D4852A"/>
          </a:solidFill>
          <a:ln w="12700">
            <a:solidFill>
              <a:srgbClr val="D4852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09360" y="155448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Blender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6309360" y="2331720"/>
            <a:ext cx="23774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DDDB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Free, powerful, and full of YouTube tutorials. Steep learning curve, but once it clicked, everything changed.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309360" y="438912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485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CHOSEN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D4852A"/>
          </a:solidFill>
          <a:ln w="12700">
            <a:solidFill>
              <a:srgbClr val="D485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914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D485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01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11480" y="3657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Leaning Tower of Pisa</a:t>
            </a:r>
            <a:endParaRPr lang="en-US" sz="24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029200" y="960120"/>
            <a:ext cx="3840480" cy="3931920"/>
          </a:xfrm>
          <a:prstGeom prst="rect">
            <a:avLst/>
          </a:prstGeom>
        </p:spPr>
      </p:pic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11480" y="3474720"/>
            <a:ext cx="1828800" cy="13716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11480" y="4828032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A8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stage — individual ring sections</a:t>
            </a:r>
            <a:endParaRPr lang="en-US" sz="900" dirty="0"/>
          </a:p>
        </p:txBody>
      </p:sp>
      <p:sp>
        <p:nvSpPr>
          <p:cNvPr id="9" name="Text 5"/>
          <p:cNvSpPr/>
          <p:nvPr/>
        </p:nvSpPr>
        <p:spPr>
          <a:xfrm>
            <a:off x="411480" y="1051560"/>
            <a:ext cx="43891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first full building modelled for Studio.
</a:t>
            </a:r>
            <a:pPr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Tower of Pisa was chosen deliberately — hundreds of reference photos exist online, and the circular tiered structure made it ideal for learning Blender's array and boolean tools.
</a:t>
            </a:r>
            <a:pPr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column, arch, and ring was modelled individually and repeated — a technique that would become the foundation for everything that followed.</a:t>
            </a:r>
            <a:endParaRPr lang="en-US" sz="1500" dirty="0"/>
          </a:p>
        </p:txBody>
      </p:sp>
      <p:sp>
        <p:nvSpPr>
          <p:cNvPr id="10" name="Shape 6"/>
          <p:cNvSpPr/>
          <p:nvPr/>
        </p:nvSpPr>
        <p:spPr>
          <a:xfrm>
            <a:off x="411480" y="3639312"/>
            <a:ext cx="2011680" cy="59436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411480" y="3685032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485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1 of 3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D4852A"/>
          </a:solidFill>
          <a:ln w="12700">
            <a:solidFill>
              <a:srgbClr val="D485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5603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D485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02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11480" y="502920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123 Bannatyne Ave, Winnipeg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11480" y="987552"/>
            <a:ext cx="8321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8A8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Modelling a real building — from life</a:t>
            </a:r>
            <a:endParaRPr lang="en-US" sz="14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11480" y="1417320"/>
            <a:ext cx="3840480" cy="3383280"/>
          </a:xfrm>
          <a:prstGeom prst="rect">
            <a:avLst/>
          </a:prstGeom>
        </p:spPr>
      </p:pic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480560" y="3154680"/>
            <a:ext cx="2011680" cy="164592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480560" y="480060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A8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details modelled in stages</a:t>
            </a:r>
            <a:endParaRPr lang="en-US" sz="900" dirty="0"/>
          </a:p>
        </p:txBody>
      </p:sp>
      <p:sp>
        <p:nvSpPr>
          <p:cNvPr id="9" name="Text 5"/>
          <p:cNvSpPr/>
          <p:nvPr/>
        </p:nvSpPr>
        <p:spPr>
          <a:xfrm>
            <a:off x="4480560" y="1417320"/>
            <a:ext cx="42976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DDDB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next step up: a real Winnipeg building.
</a:t>
            </a:r>
            <a:pPr indent="0" marL="0">
              <a:buNone/>
            </a:pPr>
            <a:r>
              <a:rPr lang="en-US" sz="1300" dirty="0">
                <a:solidFill>
                  <a:srgbClr val="DDDB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was a property being acquired by Gavin's father's company — which meant the stakes felt real. Every window bay, decorative column, and brick bump-out was a detail that could be checked against the actual building.
</a:t>
            </a:r>
            <a:pPr indent="0" marL="0">
              <a:buNone/>
            </a:pPr>
            <a:r>
              <a:rPr lang="en-US" sz="1200" i="1" dirty="0">
                <a:solidFill>
                  <a:srgbClr val="F0A0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"Every time I thought I was done, I would look at the real building and find something I missed."
</a:t>
            </a:r>
            <a:pPr indent="0" marL="0">
              <a:buNone/>
            </a:pPr>
            <a:r>
              <a:rPr lang="en-US" sz="1300" dirty="0">
                <a:solidFill>
                  <a:srgbClr val="DDDB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project taught precision — and the discipline to keep going back.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D4852A"/>
          </a:solidFill>
          <a:ln w="12700">
            <a:solidFill>
              <a:srgbClr val="D485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137160"/>
            <a:ext cx="8321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D485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FINAL PROJECT — PHASE 1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11480" y="411480"/>
            <a:ext cx="8321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Meeting the Architect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411480" y="1024128"/>
            <a:ext cx="50292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the final project, Gavin wanted to do what real architects do — design a building from scratch.
</a:t>
            </a:r>
            <a:pPr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Working from an actual parking lot that his father's company plans to develop, he sat down with </a:t>
            </a:r>
            <a:pPr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Sean at AtLrg Architects</a:t>
            </a:r>
            <a:pPr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— a professional who walked him through the real constraints any architect must work within before a single line is drawn.
</a:t>
            </a:r>
            <a:pPr indent="0" marL="0">
              <a:buNone/>
            </a:pPr>
            <a:r>
              <a:rPr lang="en-US" sz="1300" i="1" dirty="0">
                <a:solidFill>
                  <a:srgbClr val="D485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 thought design was mostly about what the building looks like. I had no idea how much is decided before you even get to that."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577840" y="1024128"/>
            <a:ext cx="3291840" cy="68580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577840" y="1024128"/>
            <a:ext cx="54864" cy="685800"/>
          </a:xfrm>
          <a:prstGeom prst="rect">
            <a:avLst/>
          </a:prstGeom>
          <a:solidFill>
            <a:srgbClr val="D4852A"/>
          </a:solidFill>
          <a:ln w="12700">
            <a:solidFill>
              <a:srgbClr val="D4852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715000" y="1078992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Underground utilities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715000" y="1362456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8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City service lines that cannot be built over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577840" y="1819656"/>
            <a:ext cx="3291840" cy="68580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577840" y="1819656"/>
            <a:ext cx="54864" cy="685800"/>
          </a:xfrm>
          <a:prstGeom prst="rect">
            <a:avLst/>
          </a:prstGeom>
          <a:solidFill>
            <a:srgbClr val="D4852A"/>
          </a:solidFill>
          <a:ln w="12700">
            <a:solidFill>
              <a:srgbClr val="D4852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715000" y="1874520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Topographical survey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715000" y="2157984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8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Underground water and electrical mapping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577840" y="2615184"/>
            <a:ext cx="3291840" cy="68580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577840" y="2615184"/>
            <a:ext cx="54864" cy="685800"/>
          </a:xfrm>
          <a:prstGeom prst="rect">
            <a:avLst/>
          </a:prstGeom>
          <a:solidFill>
            <a:srgbClr val="D4852A"/>
          </a:solidFill>
          <a:ln w="12700">
            <a:solidFill>
              <a:srgbClr val="D4852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715000" y="2670048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Driveways &amp; parking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715000" y="2953512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8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Required access and stall counts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577840" y="3410712"/>
            <a:ext cx="3291840" cy="68580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577840" y="3410712"/>
            <a:ext cx="54864" cy="685800"/>
          </a:xfrm>
          <a:prstGeom prst="rect">
            <a:avLst/>
          </a:prstGeom>
          <a:solidFill>
            <a:srgbClr val="D4852A"/>
          </a:solidFill>
          <a:ln w="12700">
            <a:solidFill>
              <a:srgbClr val="D4852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715000" y="3465576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height limits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715000" y="374904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8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Zoning restrictions on how tall you can go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577840" y="4206240"/>
            <a:ext cx="3291840" cy="68580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577840" y="4206240"/>
            <a:ext cx="54864" cy="685800"/>
          </a:xfrm>
          <a:prstGeom prst="rect">
            <a:avLst/>
          </a:prstGeom>
          <a:solidFill>
            <a:srgbClr val="D4852A"/>
          </a:solidFill>
          <a:ln w="12700">
            <a:solidFill>
              <a:srgbClr val="D4852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715000" y="4261104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Sidewalk setbacks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715000" y="4544568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8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Required clearance from the street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D4852A"/>
          </a:solidFill>
          <a:ln w="12700">
            <a:solidFill>
              <a:srgbClr val="D485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0" y="1188720"/>
            <a:ext cx="484632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0" b="1" dirty="0">
                <a:solidFill>
                  <a:srgbClr val="2E2E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0000" dirty="0"/>
          </a:p>
        </p:txBody>
      </p:sp>
      <p:sp>
        <p:nvSpPr>
          <p:cNvPr id="4" name="Text 2"/>
          <p:cNvSpPr/>
          <p:nvPr/>
        </p:nvSpPr>
        <p:spPr>
          <a:xfrm>
            <a:off x="411480" y="10972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D485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03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11480" y="1463040"/>
            <a:ext cx="5486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Final Building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411480" y="2331720"/>
            <a:ext cx="5029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DDDB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Designed from scratch.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DDDB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to real-world constraints.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DDDB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Coming soon.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411480" y="4114800"/>
            <a:ext cx="2468880" cy="502920"/>
          </a:xfrm>
          <a:prstGeom prst="rect">
            <a:avLst/>
          </a:prstGeom>
          <a:solidFill>
            <a:srgbClr val="2E2E3A"/>
          </a:solidFill>
          <a:ln w="12700">
            <a:solidFill>
              <a:srgbClr val="D485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411480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85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 analysis complete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108960" y="4114800"/>
            <a:ext cx="2468880" cy="502920"/>
          </a:xfrm>
          <a:prstGeom prst="rect">
            <a:avLst/>
          </a:prstGeom>
          <a:solidFill>
            <a:srgbClr val="2E2E3A"/>
          </a:solidFill>
          <a:ln w="12700">
            <a:solidFill>
              <a:srgbClr val="D4852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108960" y="411480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A8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Massing in progress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806440" y="4114800"/>
            <a:ext cx="2468880" cy="502920"/>
          </a:xfrm>
          <a:prstGeom prst="rect">
            <a:avLst/>
          </a:prstGeom>
          <a:solidFill>
            <a:srgbClr val="2E2E3A"/>
          </a:solidFill>
          <a:ln w="12700">
            <a:solidFill>
              <a:srgbClr val="D4852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806440" y="411480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A8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Exterior details — next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Learning the Basics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D4852A"/>
          </a:solidFill>
          <a:ln w="12700">
            <a:solidFill>
              <a:srgbClr val="D485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74638"/>
            <a:ext cx="8321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</a:rPr>
              <a:t>LEARNING THE BASICS</a:t>
            </a:r>
          </a:p>
        </p:txBody>
      </p:sp>
      <p:sp>
        <p:nvSpPr>
          <p:cNvPr id="4" name="Text 2"/>
          <p:cNvSpPr/>
          <p:nvPr/>
        </p:nvSpPr>
        <p:spPr>
          <a:xfrm>
            <a:off x="411480" y="795678"/>
            <a:ext cx="8321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8A8A96"/>
                </a:solidFill>
                <a:latin typeface="Calibri" pitchFamily="34" charset="0"/>
              </a:rPr>
              <a:t>Every Blender journey starts the same way. Before building buildings, first build a donut.</a:t>
            </a:r>
          </a:p>
        </p:txBody>
      </p:sp>
      <p:pic>
        <p:nvPicPr>
          <p:cNvPr id="5" name="Image 0" descr="donut.jpg"/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11480" y="1234440"/>
            <a:ext cx="3932640" cy="2514600"/>
          </a:xfrm>
          <a:prstGeom prst="rect">
            <a:avLst/>
          </a:prstGeom>
        </p:spPr>
      </p:pic>
      <p:pic>
        <p:nvPicPr>
          <p:cNvPr id="6" name="Image 1" descr="CrateTutorial.jpg"/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800240" y="1234440"/>
            <a:ext cx="3932640" cy="25146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11480" y="3840480"/>
            <a:ext cx="3932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D4852A"/>
                </a:solidFill>
                <a:latin typeface="Georgia" pitchFamily="34" charset="0"/>
              </a:rPr>
              <a:t>Tutorial 1: The Donut</a:t>
            </a:r>
          </a:p>
        </p:txBody>
      </p:sp>
      <p:sp>
        <p:nvSpPr>
          <p:cNvPr id="8" name="Text 4"/>
          <p:cNvSpPr/>
          <p:nvPr/>
        </p:nvSpPr>
        <p:spPr>
          <a:xfrm>
            <a:off x="411480" y="4160520"/>
            <a:ext cx="3932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A8A96"/>
                </a:solidFill>
                <a:latin typeface="Calibri" pitchFamily="34" charset="0"/>
              </a:rPr>
              <a:t>The classic first Blender project. Teaches mesh editing, subdivision, and basic shaping — the building blocks of every model that followed.</a:t>
            </a:r>
          </a:p>
        </p:txBody>
      </p:sp>
      <p:sp>
        <p:nvSpPr>
          <p:cNvPr id="9" name="Text 5"/>
          <p:cNvSpPr/>
          <p:nvPr/>
        </p:nvSpPr>
        <p:spPr>
          <a:xfrm>
            <a:off x="4800240" y="3840480"/>
            <a:ext cx="3932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D4852A"/>
                </a:solidFill>
                <a:latin typeface="Georgia" pitchFamily="34" charset="0"/>
              </a:rPr>
              <a:t>Tutorial 2: The Crate</a:t>
            </a:r>
          </a:p>
        </p:txBody>
      </p:sp>
      <p:sp>
        <p:nvSpPr>
          <p:cNvPr id="10" name="Text 6"/>
          <p:cNvSpPr/>
          <p:nvPr/>
        </p:nvSpPr>
        <p:spPr>
          <a:xfrm>
            <a:off x="4800240" y="4160520"/>
            <a:ext cx="3932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A8A96"/>
                </a:solidFill>
                <a:latin typeface="Calibri" pitchFamily="34" charset="0"/>
              </a:rPr>
              <a:t>The next step up — a hard-surface object with flat faces, edge detail, and geometry that needed to look precise. The first hint of architectural thinking.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Gavin Koch-Schulte – MBCI Studio Project</dc:title>
  <dc:subject>PptxGenJS Presentation</dc:subject>
  <dc:creator>PptxGenJS</dc:creator>
  <cp:lastModifiedBy>PptxGenJS</cp:lastModifiedBy>
  <cp:revision>1</cp:revision>
  <dcterms:created xsi:type="dcterms:W3CDTF">2026-06-04T03:32:48Z</dcterms:created>
  <dcterms:modified xsi:type="dcterms:W3CDTF">2026-06-04T03:32:48Z</dcterms:modified>
</cp:coreProperties>
</file>